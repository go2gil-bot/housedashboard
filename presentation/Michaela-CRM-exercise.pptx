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Michaela Hotels CRM — exercise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0F5B57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C9A227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תרגיל שימוש בקלוד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להקמת מערכת נתונים חיה ומתעדכנת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60920" y="3886200"/>
            <a:ext cx="4069080" cy="777240"/>
          </a:xfrm>
          <a:prstGeom prst="roundRect">
            <a:avLst>
              <a:gd name="adj" fmla="val 14118"/>
            </a:avLst>
          </a:prstGeom>
          <a:solidFill>
            <a:srgbClr val="0F5B57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388620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מגישים  גיל לוי והקלוד הנחמד שלו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9FB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גם מצגת זאת הוכנה על ידי קלוד הנחמד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נבנה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שכבות, מערכת אחת חיה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092440" y="1783080"/>
            <a:ext cx="35204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AD2"/>
            </a:solidFill>
            <a:prstDash val="solid"/>
          </a:ln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35640" y="2057400"/>
            <a:ext cx="566928" cy="566928"/>
          </a:xfrm>
          <a:prstGeom prst="ellipse">
            <a:avLst/>
          </a:prstGeom>
          <a:solidFill>
            <a:srgbClr val="F6EFD9"/>
          </a:solidFill>
          <a:ln/>
        </p:spPr>
      </p:sp>
      <p:sp>
        <p:nvSpPr>
          <p:cNvPr id="6" name="Text 4"/>
          <p:cNvSpPr/>
          <p:nvPr/>
        </p:nvSpPr>
        <p:spPr>
          <a:xfrm>
            <a:off x="1083564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2104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 נתונים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21040" y="32918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/ Postgres</a:t>
            </a:r>
            <a:endParaRPr lang="en-US" sz="14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טבלאות, נתונים סינתטיים,</a:t>
            </a:r>
            <a:endParaRPr lang="en-US" sz="14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הרשאות ברמת השורה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AD2"/>
            </a:solidFill>
            <a:prstDash val="solid"/>
          </a:ln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0" y="2057400"/>
            <a:ext cx="566928" cy="566928"/>
          </a:xfrm>
          <a:prstGeom prst="ellipse">
            <a:avLst/>
          </a:prstGeom>
          <a:solidFill>
            <a:srgbClr val="F6EFD9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אתר לאורחים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26280" y="32918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4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חיפוש זמינות חי,</a:t>
            </a:r>
            <a:endParaRPr lang="en-US" sz="14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הרשמה והזמנת חדר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352044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AD2"/>
            </a:solidFill>
            <a:prstDash val="solid"/>
          </a:ln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2057400"/>
            <a:ext cx="566928" cy="566928"/>
          </a:xfrm>
          <a:prstGeom prst="ellipse">
            <a:avLst/>
          </a:prstGeom>
          <a:solidFill>
            <a:srgbClr val="F6EFD9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27889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קונסולת ניהול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31520" y="329184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צוות</a:t>
            </a:r>
            <a:endParaRPr lang="en-US" sz="14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לקוחות, הזמנות</a:t>
            </a:r>
            <a:endParaRPr lang="en-US" sz="14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והכנסות לפי מלון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מבנה הנתונים והקשרים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חמש טבלאות ושישה מפתחות זרים, כפי שהם מוגדרים במסד עצמו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281160" y="160020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AD2"/>
            </a:solidFill>
            <a:prstDash val="solid"/>
          </a:ln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18320" y="207568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· code · name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· country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star_rating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281160" y="370332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AD2"/>
            </a:solidFill>
            <a:prstDash val="solid"/>
          </a:ln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418320" y="3794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0" y="41788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· hotel_id →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room_type · rate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image_url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49240" y="26517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F5B57"/>
          </a:solidFill>
          <a:ln w="12700">
            <a:solidFill>
              <a:srgbClr val="0F5B57"/>
            </a:solidFill>
            <a:prstDash val="solid"/>
          </a:ln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31272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· reference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customer_id → · hotel_id →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room_id → · dates · status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17320" y="16002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F5B57"/>
          </a:solidFill>
          <a:ln w="12700">
            <a:solidFill>
              <a:srgbClr val="0F5B57"/>
            </a:solidFill>
            <a:prstDash val="solid"/>
          </a:ln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5448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07568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· user_id →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· email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loyalty_tier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17320" y="425196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0F5B57"/>
          </a:solidFill>
          <a:ln w="12700">
            <a:solidFill>
              <a:srgbClr val="0F5B57"/>
            </a:solidFill>
            <a:prstDash val="solid"/>
          </a:ln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7274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· booking_id →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customer_id → · route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departure_time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flipH="1">
            <a:off x="8001000" y="2286000"/>
            <a:ext cx="1280160" cy="822960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3957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hotel_id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 flipH="1" flipV="1">
            <a:off x="8001000" y="3566160"/>
            <a:ext cx="1280160" cy="822960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room_id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281160" y="2971800"/>
            <a:ext cx="1188720" cy="731520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200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hotel_id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 flipH="1" flipV="1">
            <a:off x="4069080" y="2286000"/>
            <a:ext cx="1280160" cy="822960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2487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customer_id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flipH="1">
            <a:off x="4069080" y="3566160"/>
            <a:ext cx="1280160" cy="1371600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0" y="3977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booking_id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0" y="2971800"/>
            <a:ext cx="0" cy="1280160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3520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customer_id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מחיקת לקוח מוחקת גם את ההזמנות והטיסות שלו.  ·  מלון שיש לו הזמנות אינו ניתן למחיקה.  ·  מחיקת חדר משאירה את ההזמנה במקומה, ללא שיוך לחדר.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הפרויקט ב-Supabase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מסד נתונים חי באזור פרנקפורט, עם היסטוריית מיגרציות</a:t>
            </a:r>
            <a:endParaRPr lang="en-US" sz="1400" dirty="0"/>
          </a:p>
        </p:txBody>
      </p:sp>
      <p:pic>
        <p:nvPicPr>
          <p:cNvPr id="4" name="Image 0" descr="C:\Users\gil_l\AppData\Local\Temp\claude\E--OneDrive-Attachments-Desktop-HouseDashboard\030a6ad8-675a-4c51-839e-1a6cbe099ded\scratchpad\shots\s00-project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554480"/>
            <a:ext cx="10058400" cy="475488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עורך הטבלאות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טבלת ההזמנות עם הנתונים האמיתיים, וחמש הטבלאות בסרגל הצד</a:t>
            </a:r>
            <a:endParaRPr lang="en-US" sz="1400" dirty="0"/>
          </a:p>
        </p:txBody>
      </p:sp>
      <p:pic>
        <p:nvPicPr>
          <p:cNvPr id="4" name="Image 0" descr="C:\Users\gil_l\AppData\Local\Temp\claude\E--OneDrive-Attachments-Desktop-HouseDashboard\030a6ad8-675a-4c51-839e-1a6cbe099ded\scratchpad\shots\s01-table-edi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554480"/>
            <a:ext cx="10058400" cy="475488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הקשרים בין הטבלאות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המפתחות הזרים כפי שהמסד עצמו מצייר אותם, כולל הקישור לחשבונות ההתחברות</a:t>
            </a:r>
            <a:endParaRPr lang="en-US" sz="1400" dirty="0"/>
          </a:p>
        </p:txBody>
      </p:sp>
      <p:pic>
        <p:nvPicPr>
          <p:cNvPr id="4" name="Image 0" descr="C:\Users\gil_l\AppData\Local\Temp\claude\E--OneDrive-Attachments-Desktop-HouseDashboard\030a6ad8-675a-4c51-839e-1a6cbe099ded\scratchpad\shots\s03-schema-visualiz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554480"/>
            <a:ext cx="10058400" cy="475488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משתמשי המערכת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שלושת החשבונות: מנהל ושני חשבונות בדיקה, כל אחד מקושר לרשומת לקוח</a:t>
            </a:r>
            <a:endParaRPr lang="en-US" sz="1400" dirty="0"/>
          </a:p>
        </p:txBody>
      </p:sp>
      <p:pic>
        <p:nvPicPr>
          <p:cNvPr id="4" name="Image 0" descr="C:\Users\gil_l\AppData\Local\Temp\claude\E--OneDrive-Attachments-Desktop-HouseDashboard\030a6ad8-675a-4c51-839e-1a6cbe099ded\scratchpad\shots\s05-auth-us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691640"/>
            <a:ext cx="10058400" cy="420624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הנתונים שבמערכת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נתונים סינתטיים שנוצרים באופן דטרמיניסטי. הרצה מחדש מייצרת בדיוק אותו מידע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46920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0F5B57"/>
          </a:solidFill>
          <a:ln/>
        </p:spPr>
      </p:sp>
      <p:sp>
        <p:nvSpPr>
          <p:cNvPr id="5" name="Text 3"/>
          <p:cNvSpPr/>
          <p:nvPr/>
        </p:nvSpPr>
        <p:spPr>
          <a:xfrm>
            <a:off x="9646920" y="2331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646920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FE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מלונות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34072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E3EDEC"/>
          </a:solidFill>
          <a:ln/>
        </p:spPr>
      </p:sp>
      <p:sp>
        <p:nvSpPr>
          <p:cNvPr id="8" name="Text 6"/>
          <p:cNvSpPr/>
          <p:nvPr/>
        </p:nvSpPr>
        <p:spPr>
          <a:xfrm>
            <a:off x="7434072" y="2331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434072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חדרים עם תמונות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21224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E3EDEC"/>
          </a:solidFill>
          <a:ln/>
        </p:spPr>
      </p:sp>
      <p:sp>
        <p:nvSpPr>
          <p:cNvPr id="11" name="Text 9"/>
          <p:cNvSpPr/>
          <p:nvPr/>
        </p:nvSpPr>
        <p:spPr>
          <a:xfrm>
            <a:off x="5221224" y="2331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5221224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לקוחות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08376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E3EDEC"/>
          </a:solidFill>
          <a:ln/>
        </p:spPr>
      </p:sp>
      <p:sp>
        <p:nvSpPr>
          <p:cNvPr id="14" name="Text 12"/>
          <p:cNvSpPr/>
          <p:nvPr/>
        </p:nvSpPr>
        <p:spPr>
          <a:xfrm>
            <a:off x="3008376" y="2331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3008376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הזמנות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E3EDEC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" y="2331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795528" y="3291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קטעי טיסה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526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מלונות: ליסבון · סנטוריני · ציריך · תל אביב · פראג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71600" y="50292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חדר תמונה, מחיר ללילה ותפוסה מרבית. הזמנות וטיסות נוצרות מגיבוב דטרמיניסטי, כך שהמידע זהה בכל הרצה.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האתר פתוח לכל אחד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חמשת המלונות פתוחים לצפייה ללא חשבון</a:t>
            </a:r>
            <a:endParaRPr lang="en-US" sz="1400" dirty="0"/>
          </a:p>
        </p:txBody>
      </p:sp>
      <p:pic>
        <p:nvPicPr>
          <p:cNvPr id="4" name="Image 0" descr="C:\Users\gil_l\AppData\Local\Temp\claude\E--OneDrive-Attachments-Desktop-HouseDashboard\030a6ad8-675a-4c51-839e-1a6cbe099ded\scratchpad\shots\01-home-anonymo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463040"/>
            <a:ext cx="10058400" cy="49377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מעבר בין מלונות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אותם תאריכים, מלון אחר. הזמינות מחושבת מחדש מול ההזמנות האמיתיות</a:t>
            </a:r>
            <a:endParaRPr lang="en-US" sz="1400" dirty="0"/>
          </a:p>
        </p:txBody>
      </p:sp>
      <p:pic>
        <p:nvPicPr>
          <p:cNvPr id="4" name="Image 0" descr="C:\Users\gil_l\AppData\Local\Temp\claude\E--OneDrive-Attachments-Desktop-HouseDashboard\030a6ad8-675a-4c51-839e-1a6cbe099ded\scratchpad\shots\02-availability-santorin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1691640"/>
            <a:ext cx="3520440" cy="393192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8229600" y="5760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סנטוריני</a:t>
            </a:r>
            <a:endParaRPr lang="en-US" sz="1500" dirty="0"/>
          </a:p>
        </p:txBody>
      </p:sp>
      <p:pic>
        <p:nvPicPr>
          <p:cNvPr id="6" name="Image 1" descr="C:\Users\gil_l\AppData\Local\Temp\claude\E--OneDrive-Attachments-Desktop-HouseDashboard\030a6ad8-675a-4c51-839e-1a6cbe099ded\scratchpad\shots\03-availability-zurich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1691640"/>
            <a:ext cx="3520440" cy="393192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4434840" y="5760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ציריך</a:t>
            </a:r>
            <a:endParaRPr lang="en-US" sz="1500" dirty="0"/>
          </a:p>
        </p:txBody>
      </p:sp>
      <p:pic>
        <p:nvPicPr>
          <p:cNvPr id="8" name="Image 2" descr="C:\Users\gil_l\AppData\Local\Temp\claude\E--OneDrive-Attachments-Desktop-HouseDashboard\030a6ad8-675a-4c51-839e-1a6cbe099ded\scratchpad\shots\04-availability-telaviv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1691640"/>
            <a:ext cx="3520440" cy="393192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640080" y="5760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תל אביב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כרטיסי החדרים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חדר תמונה, מחיר ללילה, תפוסה וסך הכל לשהות</a:t>
            </a:r>
            <a:endParaRPr lang="en-US" sz="1400" dirty="0"/>
          </a:p>
        </p:txBody>
      </p:sp>
      <p:pic>
        <p:nvPicPr>
          <p:cNvPr id="4" name="Image 0" descr="C:\Users\gil_l\AppData\Local\Temp\claude\E--OneDrive-Attachments-Desktop-HouseDashboard\030a6ad8-675a-4c51-839e-1a6cbe099ded\scratchpad\shots\05-room-car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463040"/>
            <a:ext cx="10058400" cy="49377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להזמין חדר צריך חשבון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לחיצה על כפתור ההזמנה ללא התחברות מפנה את המבקר למסך הכניסה</a:t>
            </a:r>
            <a:endParaRPr lang="en-US" sz="1400" dirty="0"/>
          </a:p>
        </p:txBody>
      </p:sp>
      <p:pic>
        <p:nvPicPr>
          <p:cNvPr id="4" name="Image 0" descr="C:\Users\gil_l\AppData\Local\Temp\claude\E--OneDrive-Attachments-Desktop-HouseDashboard\030a6ad8-675a-4c51-839e-1a6cbe099ded\scratchpad\shots\06-booking-requires-sign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463040"/>
            <a:ext cx="10058400" cy="49377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הליך ההרשמה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שלבים: מילוי פרטים, אישור אימייל, כניסה למערכת</a:t>
            </a:r>
            <a:endParaRPr lang="en-US" sz="1400" dirty="0"/>
          </a:p>
        </p:txBody>
      </p:sp>
      <p:pic>
        <p:nvPicPr>
          <p:cNvPr id="4" name="Image 0" descr="C:\Users\gil_l\AppData\Local\Temp\claude\E--OneDrive-Attachments-Desktop-HouseDashboard\030a6ad8-675a-4c51-839e-1a6cbe099ded\scratchpad\shots\07-signup-emp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1737360"/>
            <a:ext cx="3520440" cy="37947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11201400" y="5623560"/>
            <a:ext cx="457200" cy="457200"/>
          </a:xfrm>
          <a:prstGeom prst="ellipse">
            <a:avLst/>
          </a:prstGeom>
          <a:solidFill>
            <a:srgbClr val="F6EFD9"/>
          </a:solidFill>
          <a:ln/>
        </p:spPr>
      </p:sp>
      <p:sp>
        <p:nvSpPr>
          <p:cNvPr id="6" name="Text 3"/>
          <p:cNvSpPr/>
          <p:nvPr/>
        </p:nvSpPr>
        <p:spPr>
          <a:xfrm>
            <a:off x="1120140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0" y="56692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טופס הרשמה</a:t>
            </a:r>
            <a:endParaRPr lang="en-US" sz="1300" dirty="0"/>
          </a:p>
        </p:txBody>
      </p:sp>
      <p:pic>
        <p:nvPicPr>
          <p:cNvPr id="8" name="Image 1" descr="C:\Users\gil_l\AppData\Local\Temp\claude\E--OneDrive-Attachments-Desktop-HouseDashboard\030a6ad8-675a-4c51-839e-1a6cbe099ded\scratchpad\shots\08-signup-fill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1737360"/>
            <a:ext cx="3520440" cy="37947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7406640" y="5623560"/>
            <a:ext cx="457200" cy="457200"/>
          </a:xfrm>
          <a:prstGeom prst="ellipse">
            <a:avLst/>
          </a:prstGeom>
          <a:solidFill>
            <a:srgbClr val="F6EFD9"/>
          </a:solidFill>
          <a:ln/>
        </p:spPr>
      </p:sp>
      <p:sp>
        <p:nvSpPr>
          <p:cNvPr id="10" name="Text 6"/>
          <p:cNvSpPr/>
          <p:nvPr/>
        </p:nvSpPr>
        <p:spPr>
          <a:xfrm>
            <a:off x="740664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434840" y="56692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מילוי פרטי האורח</a:t>
            </a:r>
            <a:endParaRPr lang="en-US" sz="1300" dirty="0"/>
          </a:p>
        </p:txBody>
      </p:sp>
      <p:pic>
        <p:nvPicPr>
          <p:cNvPr id="12" name="Image 2" descr="C:\Users\gil_l\AppData\Local\Temp\claude\E--OneDrive-Attachments-Desktop-HouseDashboard\030a6ad8-675a-4c51-839e-1a6cbe099ded\scratchpad\shots\09-signup-check-inbox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1737360"/>
            <a:ext cx="3520440" cy="37947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3611880" y="5623560"/>
            <a:ext cx="457200" cy="457200"/>
          </a:xfrm>
          <a:prstGeom prst="ellipse">
            <a:avLst/>
          </a:prstGeom>
          <a:solidFill>
            <a:srgbClr val="F6EFD9"/>
          </a:solidFill>
          <a:ln/>
        </p:spPr>
      </p:sp>
      <p:sp>
        <p:nvSpPr>
          <p:cNvPr id="14" name="Text 9"/>
          <p:cNvSpPr/>
          <p:nvPr/>
        </p:nvSpPr>
        <p:spPr>
          <a:xfrm>
            <a:off x="3611880" y="5623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0080" y="56692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נשלח לאימייל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האזור האישי של האורח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אורח רואה אך ורק את ההזמנות שלו. הסינון נאכף במסד, לא בממשק</a:t>
            </a:r>
            <a:endParaRPr lang="en-US" sz="1400" dirty="0"/>
          </a:p>
        </p:txBody>
      </p:sp>
      <p:pic>
        <p:nvPicPr>
          <p:cNvPr id="4" name="Image 0" descr="C:\Users\gil_l\AppData\Local\Temp\claude\E--OneDrive-Attachments-Desktop-HouseDashboard\030a6ad8-675a-4c51-839e-1a6cbe099ded\scratchpad\shots\11-account-my-book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463040"/>
            <a:ext cx="10058400" cy="49377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קונסולת הניהול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מדדים והכנסות לפי מלון, גלוי רק למשתמש עם הרשאת צוות</a:t>
            </a:r>
            <a:endParaRPr lang="en-US" sz="1400" dirty="0"/>
          </a:p>
        </p:txBody>
      </p:sp>
      <p:pic>
        <p:nvPicPr>
          <p:cNvPr id="4" name="Image 0" descr="C:\Users\gil_l\AppData\Local\Temp\claude\E--OneDrive-Attachments-Desktop-HouseDashboard\030a6ad8-675a-4c51-839e-1a6cbe099ded\scratchpad\shots\12-admin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463040"/>
            <a:ext cx="10058400" cy="49377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הלקוחות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26 הלקוחות, דרגות נאמנות ונקודות</a:t>
            </a:r>
            <a:endParaRPr lang="en-US" sz="1400" dirty="0"/>
          </a:p>
        </p:txBody>
      </p:sp>
      <p:pic>
        <p:nvPicPr>
          <p:cNvPr id="4" name="Image 0" descr="C:\Users\gil_l\AppData\Local\Temp\claude\E--OneDrive-Attachments-Desktop-HouseDashboard\030a6ad8-675a-4c51-839e-1a6cbe099ded\scratchpad\shots\13-admin-custom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463040"/>
            <a:ext cx="10058400" cy="49377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ההזמנות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ההזמנות ברשת, עם ערוץ הזמנה, סטטוס וסכום</a:t>
            </a:r>
            <a:endParaRPr lang="en-US" sz="1400" dirty="0"/>
          </a:p>
        </p:txBody>
      </p:sp>
      <p:pic>
        <p:nvPicPr>
          <p:cNvPr id="4" name="Image 0" descr="C:\Users\gil_l\AppData\Local\Temp\claude\E--OneDrive-Attachments-Desktop-HouseDashboard\030a6ad8-675a-4c51-839e-1a6cbe099ded\scratchpad\shots\14-admin-book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51560" y="1463040"/>
            <a:ext cx="10058400" cy="49377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999999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שתי רמות הרשאה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ההפרדה נאכפת במסד הנתונים, כך שגם פנייה ישירה לשרת לא עוקפת אותה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852160" y="146304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יכולת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1752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אורח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0698480" cy="566928"/>
          </a:xfrm>
          <a:prstGeom prst="rect">
            <a:avLst/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0" y="1920240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צפייה במלונות ובחדרים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19202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כן, ללא חשבון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2487168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חיפוש זמינות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24871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כן, ללא חשבון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4871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54096"/>
            <a:ext cx="10698480" cy="566928"/>
          </a:xfrm>
          <a:prstGeom prst="rect">
            <a:avLst/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3054096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יצירת הזמנה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17520" y="30540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לעצמו, אחרי הרשמה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05409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לקוח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52160" y="3621024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צפייה בהזמנות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362102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שלו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6210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187952"/>
            <a:ext cx="10698480" cy="566928"/>
          </a:xfrm>
          <a:prstGeom prst="rect">
            <a:avLst/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4187952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צפייה בלקוחות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41879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הפרופיל שלו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1879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4754880"/>
            <a:ext cx="5166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קונסולת ניהול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017520" y="47548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חסום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7548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0F5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פתוח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5532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הרשאת הצוות נשמרת בשדה שרק השרת יכול לכתוב אליו, ולא בשדה שהמשתמש עצמו רשאי לערוך.</a:t>
            </a:r>
            <a:endParaRPr lang="en-US" sz="125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אחרת כל אורח היה יכול להפוך את עצמו למנהל.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3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840480" cy="3840480"/>
          </a:xfrm>
          <a:prstGeom prst="ellipse">
            <a:avLst/>
          </a:prstGeom>
          <a:solidFill>
            <a:srgbClr val="0F5B5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חיה, לא הדגמה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FE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הזמנה שנוצרת באתר נכתבת למסד ומעלימה את החדר מהזמינות באותו רגע.</a:t>
            </a:r>
            <a:endParaRPr lang="en-US" sz="1800" dirty="0"/>
          </a:p>
          <a:p>
            <a:pPr rtl="1" algn="r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FE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המדדים בקונסולת הניהול מתעדכנים מהנתונים עצמם.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גם מצגת זאת הוכנה על ידי קלוד הנחמד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Michaela Hotels CRM</dc:title>
  <dc:subject>PptxGenJS Presentation</dc:subject>
  <dc:creator>Gil Levi</dc:creator>
  <cp:lastModifiedBy>Gil Levi</cp:lastModifiedBy>
  <cp:revision>1</cp:revision>
  <dcterms:created xsi:type="dcterms:W3CDTF">2026-08-24T15:45:38Z</dcterms:created>
  <dcterms:modified xsi:type="dcterms:W3CDTF">2026-08-24T15:45:38Z</dcterms:modified>
</cp:coreProperties>
</file>